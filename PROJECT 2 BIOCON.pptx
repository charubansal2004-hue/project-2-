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A23B3E-926E-4ED3-8A27-B28210C33F7C}" v="37" dt="2026-05-16T16:20:13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8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3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9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2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2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6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8744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19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21510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51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4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ECA2A-CA74-450A-AAC2-75D34C25803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FC2AF3-D394-44AD-B9DA-DBCFC9D28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10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con.com/businesses/biosimilars/?utm_source=chatgpt.com" TargetMode="External"/><Relationship Id="rId2" Type="http://schemas.openxmlformats.org/officeDocument/2006/relationships/hyperlink" Target="https://www.biocon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uters.com/business/healthcare-pharmaceuticals/?utm_source=chatgpt.com" TargetMode="External"/><Relationship Id="rId5" Type="http://schemas.openxmlformats.org/officeDocument/2006/relationships/hyperlink" Target="https://www.ema.europa.eu/en/human-regulatory-overview/biosimilar-medicines-overview?utm_source=chatgpt.com" TargetMode="External"/><Relationship Id="rId4" Type="http://schemas.openxmlformats.org/officeDocument/2006/relationships/hyperlink" Target="https://www.ibef.org/industry/biotechnology-india/showcase/biocon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1A0D-AFF9-F484-F689-7FDC0E014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6019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/>
              <a:t>PROJECT 2 </a:t>
            </a:r>
            <a:br>
              <a:rPr lang="en-US" sz="4000" b="1"/>
            </a:br>
            <a:r>
              <a:rPr lang="en-US" sz="4000" b="1"/>
              <a:t>Biocon</a:t>
            </a:r>
            <a:r>
              <a:rPr lang="en-US" sz="4000" b="1" dirty="0"/>
              <a:t>: A Global Biotechnology Innovator</a:t>
            </a:r>
            <a:br>
              <a:rPr lang="en-US" sz="4000" b="1" dirty="0"/>
            </a:br>
            <a:r>
              <a:rPr lang="en-US" sz="4000" b="1" dirty="0"/>
              <a:t>Biotechnology Innovations, Products, Applications, Challenges and Market Impact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3600" dirty="0"/>
              <a:t>Presented By:</a:t>
            </a:r>
            <a:br>
              <a:rPr lang="en-US" sz="3600" b="1" dirty="0"/>
            </a:br>
            <a:r>
              <a:rPr lang="en-US" sz="3600" b="1" dirty="0"/>
              <a:t>CHARU BANSAL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Company:</a:t>
            </a:r>
            <a:br>
              <a:rPr lang="en-US" sz="3600" b="1" dirty="0"/>
            </a:br>
            <a:r>
              <a:rPr lang="en-US" sz="3600" b="1" dirty="0"/>
              <a:t>Biocon</a:t>
            </a:r>
            <a:br>
              <a:rPr lang="en-US" sz="3600" dirty="0"/>
            </a:br>
            <a:r>
              <a:rPr lang="en-US" sz="3600" dirty="0"/>
              <a:t>Founded by Kiran Mazumdar-Shaw in 1978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6647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F7A-28A3-26D2-AF1A-9BF36664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/>
          </a:bodyPr>
          <a:lstStyle/>
          <a:p>
            <a:r>
              <a:rPr lang="en-US" dirty="0"/>
              <a:t>INTRODUCTION TO BIOCON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F39A-BF5B-0C3E-B65C-00DE193BA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8"/>
            <a:ext cx="12191999" cy="61587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Biocon is one of India’s leading biopharmaceutical and biotechnology companies specializing in:</a:t>
            </a:r>
          </a:p>
          <a:p>
            <a:r>
              <a:rPr lang="en-US" sz="1800" dirty="0"/>
              <a:t>Biosimilars </a:t>
            </a:r>
          </a:p>
          <a:p>
            <a:r>
              <a:rPr lang="en-US" sz="1800" dirty="0"/>
              <a:t>Insulin products </a:t>
            </a:r>
          </a:p>
          <a:p>
            <a:r>
              <a:rPr lang="en-US" sz="1800" dirty="0"/>
              <a:t>Biologics </a:t>
            </a:r>
          </a:p>
          <a:p>
            <a:r>
              <a:rPr lang="en-US" sz="1800" dirty="0"/>
              <a:t>Novel biologic therapies </a:t>
            </a:r>
          </a:p>
          <a:p>
            <a:r>
              <a:rPr lang="en-US" sz="1800" dirty="0"/>
              <a:t>Research services </a:t>
            </a:r>
          </a:p>
          <a:p>
            <a:pPr marL="0" indent="0" algn="ctr">
              <a:buNone/>
            </a:pPr>
            <a:r>
              <a:rPr lang="en-US" sz="1800" b="1" dirty="0"/>
              <a:t>Headquarters</a:t>
            </a:r>
          </a:p>
          <a:p>
            <a:r>
              <a:rPr lang="en-US" sz="1800" dirty="0"/>
              <a:t>Bengaluru</a:t>
            </a:r>
          </a:p>
          <a:p>
            <a:r>
              <a:rPr lang="en-US" sz="1800" dirty="0"/>
              <a:t> Karnataka</a:t>
            </a:r>
          </a:p>
          <a:p>
            <a:r>
              <a:rPr lang="en-US" sz="1800" dirty="0"/>
              <a:t>India</a:t>
            </a:r>
          </a:p>
          <a:p>
            <a:pPr marL="0" indent="0" algn="ctr">
              <a:buNone/>
            </a:pPr>
            <a:r>
              <a:rPr lang="en-US" sz="1800" b="1" dirty="0"/>
              <a:t>Key Facts</a:t>
            </a:r>
          </a:p>
          <a:p>
            <a:r>
              <a:rPr lang="en-US" sz="1800" dirty="0"/>
              <a:t>Operates in 120+ countries </a:t>
            </a:r>
          </a:p>
          <a:p>
            <a:r>
              <a:rPr lang="en-US" sz="1800" dirty="0"/>
              <a:t>Over 16,500 employees </a:t>
            </a:r>
          </a:p>
          <a:p>
            <a:r>
              <a:rPr lang="en-US" sz="1800" dirty="0"/>
              <a:t>Strong focus on diabetes, oncology, and autoimmune diseases </a:t>
            </a:r>
          </a:p>
          <a:p>
            <a:pPr marL="0" indent="0" algn="ctr">
              <a:buNone/>
            </a:pPr>
            <a:r>
              <a:rPr lang="en-US" sz="1800" b="1" dirty="0"/>
              <a:t>Vision</a:t>
            </a:r>
          </a:p>
          <a:p>
            <a:pPr marL="0" indent="0">
              <a:buNone/>
            </a:pPr>
            <a:r>
              <a:rPr lang="en-US" sz="1800" dirty="0"/>
              <a:t>To enhance global healthcare through innovative and affordable biopharmaceuticals.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181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28FD-450F-BA38-2955-EF3FB388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Major Innovation: Biosimilars and Recombinant Biopharmaceuticals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7211C-F28A-4440-A3C4-12FC53F0F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What are Biosimilars?</a:t>
            </a:r>
          </a:p>
          <a:p>
            <a:pPr marL="0" indent="0">
              <a:buNone/>
            </a:pPr>
            <a:r>
              <a:rPr lang="en-US" dirty="0"/>
              <a:t>Biosimilars are biologic medical products highly similar to already approved biologic drugs.</a:t>
            </a:r>
          </a:p>
          <a:p>
            <a:pPr marL="0" indent="0">
              <a:buNone/>
            </a:pPr>
            <a:r>
              <a:rPr lang="en-US" dirty="0"/>
              <a:t>They are produced using:</a:t>
            </a:r>
          </a:p>
          <a:p>
            <a:r>
              <a:rPr lang="en-US" dirty="0"/>
              <a:t>Recombinant DNA technology </a:t>
            </a:r>
          </a:p>
          <a:p>
            <a:r>
              <a:rPr lang="en-US" dirty="0"/>
              <a:t>Genetic engineering </a:t>
            </a:r>
          </a:p>
          <a:p>
            <a:r>
              <a:rPr lang="en-US" dirty="0"/>
              <a:t>Mammalian cell culture technology </a:t>
            </a:r>
          </a:p>
          <a:p>
            <a:r>
              <a:rPr lang="en-US" dirty="0"/>
              <a:t>Fermentation biotechnology </a:t>
            </a:r>
          </a:p>
          <a:p>
            <a:pPr marL="0" indent="0" algn="ctr">
              <a:buNone/>
            </a:pPr>
            <a:r>
              <a:rPr lang="en-US" b="1" dirty="0"/>
              <a:t>Biocon’s Core Innovation Areas</a:t>
            </a:r>
          </a:p>
          <a:p>
            <a:r>
              <a:rPr lang="en-US" dirty="0"/>
              <a:t>Recombinant human insulin </a:t>
            </a:r>
          </a:p>
          <a:p>
            <a:r>
              <a:rPr lang="en-US" dirty="0"/>
              <a:t>Monoclonal antibodies </a:t>
            </a:r>
          </a:p>
          <a:p>
            <a:r>
              <a:rPr lang="en-US" dirty="0"/>
              <a:t>Biosimilar trastuzumab </a:t>
            </a:r>
          </a:p>
          <a:p>
            <a:r>
              <a:rPr lang="en-US" dirty="0"/>
              <a:t>Biosimilar insulin glargine </a:t>
            </a:r>
          </a:p>
          <a:p>
            <a:r>
              <a:rPr lang="en-US" dirty="0"/>
              <a:t>Immunotherapy biologics </a:t>
            </a:r>
          </a:p>
          <a:p>
            <a:pPr marL="0" indent="0" algn="ctr">
              <a:buNone/>
            </a:pPr>
            <a:r>
              <a:rPr lang="en-US" b="1" dirty="0"/>
              <a:t>Why Biocon is Innovative</a:t>
            </a:r>
          </a:p>
          <a:p>
            <a:r>
              <a:rPr lang="en-US" dirty="0"/>
              <a:t>Biocon developed low-cost biologics that made advanced therapies affordable in developing nations.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360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D5A4-C4D6-5097-0599-EEF41A3B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4820"/>
          </a:xfrm>
        </p:spPr>
        <p:txBody>
          <a:bodyPr>
            <a:noAutofit/>
          </a:bodyPr>
          <a:lstStyle/>
          <a:p>
            <a:r>
              <a:rPr lang="en-US" sz="2700" b="1" dirty="0"/>
              <a:t>Biotechnology Behind Biocon Products Biotechnology Processes Used by Biocon</a:t>
            </a:r>
            <a:br>
              <a:rPr lang="en-US" sz="2700" b="1" dirty="0"/>
            </a:br>
            <a:endParaRPr 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2923-2499-28DC-26D6-6DEDE980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14973"/>
            <a:ext cx="12191999" cy="6043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Recombinant DNA Technology</a:t>
            </a:r>
          </a:p>
          <a:p>
            <a:pPr marL="0" indent="0">
              <a:buNone/>
            </a:pPr>
            <a:r>
              <a:rPr lang="en-US" dirty="0"/>
              <a:t>Genes coding for therapeutic proteins are inserted into host cells.</a:t>
            </a:r>
          </a:p>
          <a:p>
            <a:pPr marL="0" indent="0">
              <a:buNone/>
            </a:pPr>
            <a:r>
              <a:rPr lang="en-US" b="1" dirty="0"/>
              <a:t>2. Cell Culture Technology</a:t>
            </a:r>
          </a:p>
          <a:p>
            <a:pPr marL="0" indent="0">
              <a:buNone/>
            </a:pPr>
            <a:r>
              <a:rPr lang="en-US" dirty="0"/>
              <a:t>Engineered microbial or mammalian cells produce therapeutic proteins.</a:t>
            </a:r>
          </a:p>
          <a:p>
            <a:pPr marL="0" indent="0">
              <a:buNone/>
            </a:pPr>
            <a:r>
              <a:rPr lang="en-US" b="1" dirty="0"/>
              <a:t>3. Fermentation Technology</a:t>
            </a:r>
          </a:p>
          <a:p>
            <a:pPr marL="0" indent="0">
              <a:buNone/>
            </a:pPr>
            <a:r>
              <a:rPr lang="en-US" dirty="0"/>
              <a:t>Large-scale bioreactors are used for mass production.</a:t>
            </a:r>
          </a:p>
          <a:p>
            <a:pPr marL="0" indent="0">
              <a:buNone/>
            </a:pPr>
            <a:r>
              <a:rPr lang="en-US" b="1" dirty="0"/>
              <a:t>4. Protein Purification</a:t>
            </a:r>
          </a:p>
          <a:p>
            <a:pPr marL="0" indent="0">
              <a:buNone/>
            </a:pPr>
            <a:r>
              <a:rPr lang="en-US" dirty="0"/>
              <a:t>Chromatography and downstream processing purify biologics.</a:t>
            </a:r>
          </a:p>
          <a:p>
            <a:pPr marL="0" indent="0">
              <a:buNone/>
            </a:pPr>
            <a:r>
              <a:rPr lang="en-US" b="1" dirty="0"/>
              <a:t>5. Biosimilar Development</a:t>
            </a:r>
          </a:p>
          <a:p>
            <a:pPr marL="0" indent="0">
              <a:buNone/>
            </a:pPr>
            <a:r>
              <a:rPr lang="en-US" dirty="0"/>
              <a:t>Biocon compares structure, efficacy, and safety with original biologics.</a:t>
            </a:r>
          </a:p>
          <a:p>
            <a:pPr marL="0" indent="0">
              <a:buNone/>
            </a:pPr>
            <a:r>
              <a:rPr lang="en-US" b="1" dirty="0"/>
              <a:t>Advanced Technologies Used</a:t>
            </a:r>
          </a:p>
          <a:p>
            <a:r>
              <a:rPr lang="en-US" dirty="0"/>
              <a:t>AI-assisted analytics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Robotics </a:t>
            </a:r>
          </a:p>
          <a:p>
            <a:r>
              <a:rPr lang="en-US" dirty="0"/>
              <a:t>Advanced biologics manufacturing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95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9BBE-1E2F-0FAA-72EB-476BA834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48019"/>
          </a:xfrm>
        </p:spPr>
        <p:txBody>
          <a:bodyPr>
            <a:normAutofit/>
          </a:bodyPr>
          <a:lstStyle/>
          <a:p>
            <a:r>
              <a:rPr lang="en-US" sz="2800" b="1" dirty="0"/>
              <a:t>Major Products of Biocon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CDB3A3-96B0-4BC3-BD84-20025708E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50576"/>
              </p:ext>
            </p:extLst>
          </p:nvPr>
        </p:nvGraphicFramePr>
        <p:xfrm>
          <a:off x="1319463" y="86627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334725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77671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23683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Disease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08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Insulin Glargine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Biosimilar insulin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Diabetes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Trastuzumab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Monoclonal antibody biosimilar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Breast cancer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5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Pegfilgrastim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Biosimilar biologic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Chemotherapy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9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Itolizumab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Novel monoclonal antibody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Autoimmune disorders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503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Insulin Aspart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Rapid acting insulin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Diabetes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0086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07CA5C-A987-1EE2-74BA-5F4902B64E07}"/>
              </a:ext>
            </a:extLst>
          </p:cNvPr>
          <p:cNvSpPr txBox="1"/>
          <p:nvPr/>
        </p:nvSpPr>
        <p:spPr>
          <a:xfrm>
            <a:off x="56147" y="3637547"/>
            <a:ext cx="12079705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/>
              <a:t>Major Product Segment</a:t>
            </a:r>
          </a:p>
          <a:p>
            <a:pPr>
              <a:buNone/>
            </a:pPr>
            <a:r>
              <a:rPr lang="en-US" sz="2000" dirty="0"/>
              <a:t>Biocon is globally recognized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Affordable insulin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Oncology biosimilars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Immunology therapeutics </a:t>
            </a:r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Key Achievement</a:t>
            </a:r>
          </a:p>
          <a:p>
            <a:pPr>
              <a:buNone/>
            </a:pPr>
            <a:r>
              <a:rPr lang="en-US" sz="2000" dirty="0"/>
              <a:t>Biocon became one of the first Indian companies to receive US FDA approval for biosimilar trastuzumab.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3D3B21-5E0B-B2FF-7CA9-540B976AEAA8}"/>
              </a:ext>
            </a:extLst>
          </p:cNvPr>
          <p:cNvCxnSpPr/>
          <p:nvPr/>
        </p:nvCxnSpPr>
        <p:spPr>
          <a:xfrm>
            <a:off x="4325112" y="866274"/>
            <a:ext cx="0" cy="2196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12F581-D37A-30F3-958F-7925227CE8B2}"/>
              </a:ext>
            </a:extLst>
          </p:cNvPr>
          <p:cNvCxnSpPr/>
          <p:nvPr/>
        </p:nvCxnSpPr>
        <p:spPr>
          <a:xfrm>
            <a:off x="8208264" y="863868"/>
            <a:ext cx="0" cy="2196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F81C2-AE4C-7A02-AB47-2479B05A34C4}"/>
              </a:ext>
            </a:extLst>
          </p:cNvPr>
          <p:cNvCxnSpPr/>
          <p:nvPr/>
        </p:nvCxnSpPr>
        <p:spPr>
          <a:xfrm>
            <a:off x="1319463" y="866274"/>
            <a:ext cx="1044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446A31-FCC1-213E-8032-230867C7E31B}"/>
              </a:ext>
            </a:extLst>
          </p:cNvPr>
          <p:cNvCxnSpPr/>
          <p:nvPr/>
        </p:nvCxnSpPr>
        <p:spPr>
          <a:xfrm>
            <a:off x="1319463" y="866274"/>
            <a:ext cx="0" cy="21945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E820AB-52D7-4381-3813-17DC1926AD21}"/>
              </a:ext>
            </a:extLst>
          </p:cNvPr>
          <p:cNvCxnSpPr>
            <a:cxnSpLocks/>
          </p:cNvCxnSpPr>
          <p:nvPr/>
        </p:nvCxnSpPr>
        <p:spPr>
          <a:xfrm>
            <a:off x="11768328" y="866274"/>
            <a:ext cx="0" cy="21945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3D746-7935-0600-F02B-3A4D239A3289}"/>
              </a:ext>
            </a:extLst>
          </p:cNvPr>
          <p:cNvCxnSpPr/>
          <p:nvPr/>
        </p:nvCxnSpPr>
        <p:spPr>
          <a:xfrm>
            <a:off x="1319463" y="3060834"/>
            <a:ext cx="1044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BE71FD-BA51-64CA-3BF7-5D507EB1B1CE}"/>
              </a:ext>
            </a:extLst>
          </p:cNvPr>
          <p:cNvCxnSpPr/>
          <p:nvPr/>
        </p:nvCxnSpPr>
        <p:spPr>
          <a:xfrm>
            <a:off x="1319463" y="1179576"/>
            <a:ext cx="1044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7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3686-E785-9169-6AFE-0C377804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379"/>
            <a:ext cx="12192000" cy="681036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  Applications of Biocon Biotechnology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BBF28-904C-AD03-6D78-19086D8CD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25415"/>
            <a:ext cx="12191999" cy="58882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Diabetes Management: </a:t>
            </a:r>
            <a:r>
              <a:rPr lang="en-US" dirty="0"/>
              <a:t>Biocon supplies billions of insulin doses globally.</a:t>
            </a:r>
          </a:p>
          <a:p>
            <a:pPr marL="0" indent="0">
              <a:buNone/>
            </a:pPr>
            <a:r>
              <a:rPr lang="en-US" dirty="0"/>
              <a:t>      Applications:</a:t>
            </a:r>
          </a:p>
          <a:p>
            <a:r>
              <a:rPr lang="en-US" dirty="0"/>
              <a:t>Type 1 diabetes </a:t>
            </a:r>
          </a:p>
          <a:p>
            <a:r>
              <a:rPr lang="en-US" dirty="0"/>
              <a:t>Type 2 diabetes </a:t>
            </a:r>
          </a:p>
          <a:p>
            <a:pPr marL="0" indent="0">
              <a:buNone/>
            </a:pPr>
            <a:r>
              <a:rPr lang="en-US" b="1" dirty="0"/>
              <a:t>2. Cancer Treatment</a:t>
            </a:r>
          </a:p>
          <a:p>
            <a:pPr marL="0" indent="0">
              <a:buNone/>
            </a:pPr>
            <a:r>
              <a:rPr lang="en-US" dirty="0"/>
              <a:t>Biosimilars reduce treatment cost for:</a:t>
            </a:r>
          </a:p>
          <a:p>
            <a:r>
              <a:rPr lang="en-US" dirty="0"/>
              <a:t>Breast cancer </a:t>
            </a:r>
          </a:p>
          <a:p>
            <a:r>
              <a:rPr lang="en-US" dirty="0"/>
              <a:t>Blood cancers </a:t>
            </a:r>
          </a:p>
          <a:p>
            <a:r>
              <a:rPr lang="en-US" dirty="0"/>
              <a:t>Solid tumors </a:t>
            </a:r>
          </a:p>
          <a:p>
            <a:pPr marL="0" indent="0">
              <a:buNone/>
            </a:pPr>
            <a:r>
              <a:rPr lang="en-US" b="1" dirty="0"/>
              <a:t>3. Autoimmune Disease Treatment</a:t>
            </a:r>
          </a:p>
          <a:p>
            <a:pPr marL="0" indent="0">
              <a:buNone/>
            </a:pPr>
            <a:r>
              <a:rPr lang="en-US" dirty="0"/>
              <a:t>Biologics used for:</a:t>
            </a:r>
          </a:p>
          <a:p>
            <a:r>
              <a:rPr lang="en-US" dirty="0"/>
              <a:t>Psoriasis </a:t>
            </a:r>
          </a:p>
          <a:p>
            <a:r>
              <a:rPr lang="en-US" dirty="0"/>
              <a:t>Rheumatoid arthritis </a:t>
            </a:r>
          </a:p>
          <a:p>
            <a:r>
              <a:rPr lang="en-US" dirty="0"/>
              <a:t>Cytokine storm therapy </a:t>
            </a:r>
          </a:p>
          <a:p>
            <a:pPr marL="0" indent="0">
              <a:buNone/>
            </a:pPr>
            <a:r>
              <a:rPr lang="en-US" b="1" dirty="0"/>
              <a:t>4. Global Healthcare Accessibility</a:t>
            </a:r>
          </a:p>
          <a:p>
            <a:r>
              <a:rPr lang="en-US" dirty="0"/>
              <a:t>Biocon focuses on affordable biologics for low-income populations.</a:t>
            </a:r>
          </a:p>
          <a:p>
            <a:pPr marL="0" indent="0">
              <a:buNone/>
            </a:pPr>
            <a:r>
              <a:rPr lang="en-US" b="1" dirty="0"/>
              <a:t>Global Reach</a:t>
            </a:r>
          </a:p>
          <a:p>
            <a:r>
              <a:rPr lang="en-US" dirty="0"/>
              <a:t>Products available in over 120 countries.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11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53D9-57AE-06F1-93BA-58F2946C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48019"/>
          </a:xfrm>
        </p:spPr>
        <p:txBody>
          <a:bodyPr/>
          <a:lstStyle/>
          <a:p>
            <a:r>
              <a:rPr lang="en-US" b="1" dirty="0"/>
              <a:t>Biocon’s R&amp;D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8FD0D-07CF-815C-8F6F-1A0EFB91D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66274"/>
            <a:ext cx="12191999" cy="5791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Major Research Areas</a:t>
            </a:r>
          </a:p>
          <a:p>
            <a:r>
              <a:rPr lang="en-US" dirty="0"/>
              <a:t>Biosimilars </a:t>
            </a:r>
          </a:p>
          <a:p>
            <a:r>
              <a:rPr lang="en-US" dirty="0"/>
              <a:t>Insulin analogs </a:t>
            </a:r>
          </a:p>
          <a:p>
            <a:r>
              <a:rPr lang="en-US" dirty="0"/>
              <a:t>Monoclonal antibodies </a:t>
            </a:r>
          </a:p>
          <a:p>
            <a:r>
              <a:rPr lang="en-US" dirty="0"/>
              <a:t>GLP-1 obesity therapies </a:t>
            </a:r>
          </a:p>
          <a:p>
            <a:r>
              <a:rPr lang="en-US" dirty="0"/>
              <a:t>Novel biologics </a:t>
            </a:r>
          </a:p>
          <a:p>
            <a:pPr marL="0" indent="0">
              <a:buNone/>
            </a:pPr>
            <a:r>
              <a:rPr lang="en-US" b="1" dirty="0"/>
              <a:t>Innovation Pipeline</a:t>
            </a:r>
          </a:p>
          <a:p>
            <a:r>
              <a:rPr lang="en-US" dirty="0"/>
              <a:t>Biocon is currently working on:</a:t>
            </a:r>
          </a:p>
          <a:p>
            <a:r>
              <a:rPr lang="en-US" dirty="0"/>
              <a:t>Weight-loss biologics </a:t>
            </a:r>
          </a:p>
          <a:p>
            <a:r>
              <a:rPr lang="en-US" dirty="0"/>
              <a:t>Advanced diabetes drugs </a:t>
            </a:r>
          </a:p>
          <a:p>
            <a:r>
              <a:rPr lang="en-US" dirty="0"/>
              <a:t>Next-generation biosimilars </a:t>
            </a:r>
          </a:p>
          <a:p>
            <a:pPr marL="0" indent="0">
              <a:buNone/>
            </a:pPr>
            <a:r>
              <a:rPr lang="en-US" b="1" dirty="0"/>
              <a:t>Future Biotechnology Areas</a:t>
            </a:r>
          </a:p>
          <a:p>
            <a:r>
              <a:rPr lang="en-US" dirty="0"/>
              <a:t>Precision medicine </a:t>
            </a:r>
          </a:p>
          <a:p>
            <a:r>
              <a:rPr lang="en-US" dirty="0"/>
              <a:t>Personalized biologics </a:t>
            </a:r>
          </a:p>
          <a:p>
            <a:r>
              <a:rPr lang="en-US" dirty="0"/>
              <a:t>Advanced protein therapeutics </a:t>
            </a:r>
          </a:p>
          <a:p>
            <a:pPr marL="0" indent="0">
              <a:buNone/>
            </a:pPr>
            <a:r>
              <a:rPr lang="en-US" b="1" dirty="0"/>
              <a:t>Important Development</a:t>
            </a:r>
          </a:p>
          <a:p>
            <a:r>
              <a:rPr lang="en-US" dirty="0"/>
              <a:t>Biocon plans expansion into obesity drug markets including semaglutide-based therapies.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2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F382-13D3-08B7-C38A-9FED4353D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4" y="18256"/>
            <a:ext cx="12155905" cy="662782"/>
          </a:xfrm>
        </p:spPr>
        <p:txBody>
          <a:bodyPr>
            <a:normAutofit/>
          </a:bodyPr>
          <a:lstStyle/>
          <a:p>
            <a:r>
              <a:rPr lang="en-US" sz="2400" b="1" dirty="0"/>
              <a:t>Major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8784-B88C-E8E5-537A-8997CE09C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8"/>
            <a:ext cx="12155905" cy="617696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1. High R&amp;D Cost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Biologic drug development requires:</a:t>
            </a:r>
          </a:p>
          <a:p>
            <a:r>
              <a:rPr lang="en-US" dirty="0"/>
              <a:t>Clinical trials </a:t>
            </a:r>
          </a:p>
          <a:p>
            <a:r>
              <a:rPr lang="en-US" dirty="0"/>
              <a:t>Advanced manufacturing </a:t>
            </a:r>
          </a:p>
          <a:p>
            <a:r>
              <a:rPr lang="en-US" dirty="0"/>
              <a:t>Regulatory approvals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Regulatory Challenges</a:t>
            </a:r>
          </a:p>
          <a:p>
            <a:r>
              <a:rPr lang="en-US" dirty="0"/>
              <a:t>Strict approvals required from:</a:t>
            </a:r>
          </a:p>
          <a:p>
            <a:r>
              <a:rPr lang="en-US" dirty="0"/>
              <a:t>US FDA </a:t>
            </a:r>
          </a:p>
          <a:p>
            <a:r>
              <a:rPr lang="en-US" dirty="0"/>
              <a:t>EMA </a:t>
            </a:r>
          </a:p>
          <a:p>
            <a:r>
              <a:rPr lang="en-US" dirty="0"/>
              <a:t>CDSCO </a:t>
            </a:r>
          </a:p>
          <a:p>
            <a:r>
              <a:rPr lang="en-US" dirty="0"/>
              <a:t>Biologics need extensive safety testing.</a:t>
            </a:r>
          </a:p>
          <a:p>
            <a:pPr marL="0" indent="0">
              <a:buNone/>
            </a:pPr>
            <a:r>
              <a:rPr lang="en-US" b="1" dirty="0"/>
              <a:t>3. Competition</a:t>
            </a:r>
          </a:p>
          <a:p>
            <a:r>
              <a:rPr lang="en-US" dirty="0"/>
              <a:t>Competition from:</a:t>
            </a:r>
          </a:p>
          <a:p>
            <a:r>
              <a:rPr lang="en-US" dirty="0"/>
              <a:t>Pfizer </a:t>
            </a:r>
          </a:p>
          <a:p>
            <a:r>
              <a:rPr lang="en-US" dirty="0"/>
              <a:t>Amgen </a:t>
            </a:r>
          </a:p>
          <a:p>
            <a:r>
              <a:rPr lang="en-US" dirty="0"/>
              <a:t>Novo Nordisk </a:t>
            </a:r>
          </a:p>
          <a:p>
            <a:r>
              <a:rPr lang="en-US" dirty="0"/>
              <a:t>Roche </a:t>
            </a:r>
          </a:p>
          <a:p>
            <a:pPr marL="0" indent="0">
              <a:buNone/>
            </a:pPr>
            <a:r>
              <a:rPr lang="en-US" b="1" dirty="0"/>
              <a:t>4. Manufacturing Complexity</a:t>
            </a:r>
          </a:p>
          <a:p>
            <a:r>
              <a:rPr lang="en-US" dirty="0"/>
              <a:t>Biologics are difficult to produce because:</a:t>
            </a:r>
          </a:p>
          <a:p>
            <a:r>
              <a:rPr lang="en-US" dirty="0"/>
              <a:t>Protein structure is highly sensitive </a:t>
            </a:r>
          </a:p>
          <a:p>
            <a:r>
              <a:rPr lang="en-US" dirty="0"/>
              <a:t>Cell culture conditions must be precise </a:t>
            </a:r>
          </a:p>
          <a:p>
            <a:pPr marL="0" indent="0">
              <a:buNone/>
            </a:pPr>
            <a:r>
              <a:rPr lang="en-US" b="1" dirty="0"/>
              <a:t>5. Patent and Intellectual Property Issues</a:t>
            </a:r>
          </a:p>
          <a:p>
            <a:r>
              <a:rPr lang="en-US" dirty="0"/>
              <a:t>Patent disputes delay biosimilar launches.</a:t>
            </a:r>
          </a:p>
          <a:p>
            <a:pPr marL="0" indent="0">
              <a:buNone/>
            </a:pPr>
            <a:r>
              <a:rPr lang="en-US" b="1" dirty="0"/>
              <a:t>6. Supply Chain and Global Expansion</a:t>
            </a:r>
          </a:p>
          <a:p>
            <a:r>
              <a:rPr lang="en-US" dirty="0"/>
              <a:t>Maintaining cold-chain biologic distribution globally is expensive.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9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6267-6F38-FE0B-E773-3D7499A9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62525"/>
          </a:xfrm>
        </p:spPr>
        <p:txBody>
          <a:bodyPr>
            <a:normAutofit/>
          </a:bodyPr>
          <a:lstStyle/>
          <a:p>
            <a:r>
              <a:rPr lang="en-US" sz="2800" b="1" dirty="0"/>
              <a:t>Global Market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EB9E-8FD3-094A-0069-E652CB317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31014"/>
            <a:ext cx="12191999" cy="6026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Affordable Healthcare</a:t>
            </a:r>
          </a:p>
          <a:p>
            <a:r>
              <a:rPr lang="en-US" sz="2400" dirty="0"/>
              <a:t>Biocon reduced biologic therapy cost significantly.</a:t>
            </a:r>
          </a:p>
          <a:p>
            <a:pPr marL="0" indent="0">
              <a:buNone/>
            </a:pPr>
            <a:r>
              <a:rPr lang="en-US" sz="2400" dirty="0"/>
              <a:t>2. Growth of Indian Biotechnology</a:t>
            </a:r>
          </a:p>
          <a:p>
            <a:r>
              <a:rPr lang="en-US" sz="2400" dirty="0"/>
              <a:t>Biocon helped establish India as a major biotechnology hub.</a:t>
            </a:r>
          </a:p>
          <a:p>
            <a:pPr marL="0" indent="0">
              <a:buNone/>
            </a:pPr>
            <a:r>
              <a:rPr lang="en-US" sz="2400" dirty="0"/>
              <a:t>3. Biosimilar Market Leadership</a:t>
            </a:r>
          </a:p>
          <a:p>
            <a:r>
              <a:rPr lang="en-US" sz="2400" dirty="0"/>
              <a:t>Biocon became one of the world’s leading biosimilar companies.</a:t>
            </a:r>
          </a:p>
          <a:p>
            <a:pPr marL="0" indent="0">
              <a:buNone/>
            </a:pPr>
            <a:r>
              <a:rPr lang="en-US" sz="2400" dirty="0"/>
              <a:t>4. Employment and Economy</a:t>
            </a:r>
          </a:p>
          <a:p>
            <a:r>
              <a:rPr lang="en-US" sz="2400" dirty="0"/>
              <a:t>Generated:</a:t>
            </a:r>
          </a:p>
          <a:p>
            <a:r>
              <a:rPr lang="en-US" sz="2400" dirty="0"/>
              <a:t>Scientific employment </a:t>
            </a:r>
          </a:p>
          <a:p>
            <a:r>
              <a:rPr lang="en-US" sz="2400" dirty="0"/>
              <a:t>Biotech manufacturing infrastructure </a:t>
            </a:r>
          </a:p>
          <a:p>
            <a:r>
              <a:rPr lang="en-US" sz="2400" dirty="0"/>
              <a:t>International collaborations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853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F544-1969-DD25-FC1D-154CD3DA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400"/>
          </a:xfrm>
        </p:spPr>
        <p:txBody>
          <a:bodyPr>
            <a:normAutofit/>
          </a:bodyPr>
          <a:lstStyle/>
          <a:p>
            <a:r>
              <a:rPr lang="en-US" sz="3600" b="1" dirty="0"/>
              <a:t>Recent Advancements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6E31B-1839-24F2-7DDE-D376454F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14400"/>
            <a:ext cx="12191999" cy="5943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Expansion of Biosimilar Portfolio</a:t>
            </a:r>
          </a:p>
          <a:p>
            <a:r>
              <a:rPr lang="en-US" dirty="0"/>
              <a:t>Biocon launched advanced biosimilars globally.</a:t>
            </a:r>
          </a:p>
          <a:p>
            <a:pPr marL="0" indent="0">
              <a:buNone/>
            </a:pPr>
            <a:r>
              <a:rPr lang="en-US" dirty="0"/>
              <a:t>2. Obesity Drug Development</a:t>
            </a:r>
          </a:p>
          <a:p>
            <a:r>
              <a:rPr lang="en-US" dirty="0"/>
              <a:t>Focus on GLP-1 therapies and semaglutide biosimilars.</a:t>
            </a:r>
          </a:p>
          <a:p>
            <a:pPr marL="0" indent="0">
              <a:buNone/>
            </a:pPr>
            <a:r>
              <a:rPr lang="en-US" dirty="0"/>
              <a:t>3. Integration of Biocon Biologics</a:t>
            </a:r>
          </a:p>
          <a:p>
            <a:r>
              <a:rPr lang="en-US" dirty="0"/>
              <a:t>Strengthening global biologics business. </a:t>
            </a:r>
          </a:p>
          <a:p>
            <a:pPr marL="0" indent="0">
              <a:buNone/>
            </a:pPr>
            <a:r>
              <a:rPr lang="en-US" dirty="0"/>
              <a:t>4. AI and Automation</a:t>
            </a:r>
          </a:p>
          <a:p>
            <a:pPr marL="0" indent="0">
              <a:buNone/>
            </a:pPr>
            <a:r>
              <a:rPr lang="en-US" dirty="0"/>
              <a:t>Use of:</a:t>
            </a:r>
          </a:p>
          <a:p>
            <a:r>
              <a:rPr lang="en-US" dirty="0"/>
              <a:t>Artificial intelligence </a:t>
            </a:r>
          </a:p>
          <a:p>
            <a:r>
              <a:rPr lang="en-US" dirty="0"/>
              <a:t>Robotics </a:t>
            </a:r>
          </a:p>
          <a:p>
            <a:r>
              <a:rPr lang="en-US" dirty="0"/>
              <a:t>Process automation </a:t>
            </a:r>
          </a:p>
          <a:p>
            <a:r>
              <a:rPr lang="en-US" dirty="0"/>
              <a:t>for efficient biologics manufacturing.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9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B746-FA80-E29B-6838-404DD1FF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2D93F-702A-8BF4-8BF6-6839EF8F9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50219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Future opportunities include:</a:t>
            </a:r>
          </a:p>
          <a:p>
            <a:r>
              <a:rPr lang="en-US" dirty="0"/>
              <a:t>Personalized medicine </a:t>
            </a:r>
          </a:p>
          <a:p>
            <a:r>
              <a:rPr lang="en-US" dirty="0"/>
              <a:t>Precision biologics </a:t>
            </a:r>
          </a:p>
          <a:p>
            <a:r>
              <a:rPr lang="en-US" dirty="0"/>
              <a:t>Gene-based therapies </a:t>
            </a:r>
          </a:p>
          <a:p>
            <a:r>
              <a:rPr lang="en-US" dirty="0"/>
              <a:t>Next-generation biosimilars </a:t>
            </a:r>
          </a:p>
          <a:p>
            <a:pPr marL="0" indent="0">
              <a:buNone/>
            </a:pPr>
            <a:r>
              <a:rPr lang="en-US" dirty="0"/>
              <a:t>Biocon aims to become a global leader in affordable biologic therapeutics.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20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91AB-6736-362C-B345-B51298FB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A7CBD-E03A-04CD-A650-160F92E14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8"/>
            <a:ext cx="12191999" cy="6176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Biocon represents one of the most successful biotechnology companies from India with major contributions in:</a:t>
            </a:r>
          </a:p>
          <a:p>
            <a:r>
              <a:rPr lang="en-US" dirty="0"/>
              <a:t>Biosimilars </a:t>
            </a:r>
          </a:p>
          <a:p>
            <a:r>
              <a:rPr lang="en-US" dirty="0"/>
              <a:t>Recombinant therapeutics </a:t>
            </a:r>
          </a:p>
          <a:p>
            <a:r>
              <a:rPr lang="en-US" dirty="0"/>
              <a:t>Insulin biotechnology </a:t>
            </a:r>
          </a:p>
          <a:p>
            <a:r>
              <a:rPr lang="en-US" dirty="0"/>
              <a:t>Affordable healthcare </a:t>
            </a:r>
          </a:p>
          <a:p>
            <a:pPr marL="0" indent="0">
              <a:buNone/>
            </a:pPr>
            <a:r>
              <a:rPr lang="en-US" dirty="0"/>
              <a:t>Its innovations in biologics and biosimilars have transformed treatment accessibility for millions of patients worldwide.</a:t>
            </a:r>
          </a:p>
          <a:p>
            <a:pPr marL="0" indent="0">
              <a:buNone/>
            </a:pPr>
            <a:r>
              <a:rPr lang="en-US" dirty="0"/>
              <a:t>Despite challenges such as regulatory barriers, high R&amp;D cost, and global competition, Biocon continues to expand through:</a:t>
            </a:r>
          </a:p>
          <a:p>
            <a:r>
              <a:rPr lang="en-US" dirty="0"/>
              <a:t>Advanced biotechnology research </a:t>
            </a:r>
          </a:p>
          <a:p>
            <a:r>
              <a:rPr lang="en-US" dirty="0"/>
              <a:t>Global collaborations </a:t>
            </a:r>
          </a:p>
          <a:p>
            <a:r>
              <a:rPr lang="en-US" dirty="0"/>
              <a:t>Novel biologic products </a:t>
            </a:r>
          </a:p>
          <a:p>
            <a:pPr marL="0" indent="0">
              <a:buNone/>
            </a:pPr>
            <a:r>
              <a:rPr lang="en-US" dirty="0"/>
              <a:t>Biocon’s success demonstrates how biotechnology can improve healthcare affordability and create global medical impact.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73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71B4-0BA4-F414-161B-76CA236F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585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0439-90EC-2745-F9E6-0B5A65ED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5853"/>
            <a:ext cx="12192000" cy="6152147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Biocon Official Website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Biocon Biosimilars Division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Indian Brand Equity Foundation (IBEF) – Biocon Profile</a:t>
            </a:r>
            <a:r>
              <a:rPr lang="en-US" dirty="0"/>
              <a:t> </a:t>
            </a:r>
          </a:p>
          <a:p>
            <a:r>
              <a:rPr lang="en-US" dirty="0"/>
              <a:t>U.S. Food and Drug Administration (FDA) – Biosimilars Information </a:t>
            </a:r>
          </a:p>
          <a:p>
            <a:r>
              <a:rPr lang="en-US" dirty="0">
                <a:hlinkClick r:id="rId5"/>
              </a:rPr>
              <a:t>European Medicines Agency (EMA) – Biosimilars Overview</a:t>
            </a:r>
            <a:r>
              <a:rPr lang="en-US" dirty="0"/>
              <a:t> </a:t>
            </a:r>
          </a:p>
          <a:p>
            <a:r>
              <a:rPr lang="en-US" dirty="0"/>
              <a:t>Reuters Biotechnology Reports on Biocon</a:t>
            </a:r>
            <a:br>
              <a:rPr lang="en-US" dirty="0"/>
            </a:br>
            <a:r>
              <a:rPr lang="en-US" dirty="0">
                <a:hlinkClick r:id="rId6"/>
              </a:rPr>
              <a:t>Reuters Healthcare and Pharmaceutical News</a:t>
            </a:r>
            <a:r>
              <a:rPr lang="en-US" dirty="0"/>
              <a:t> </a:t>
            </a:r>
          </a:p>
          <a:p>
            <a:r>
              <a:rPr lang="en-US" dirty="0"/>
              <a:t>Research articles and review papers on: </a:t>
            </a:r>
          </a:p>
          <a:p>
            <a:r>
              <a:rPr lang="en-US" dirty="0"/>
              <a:t>Biosimilars </a:t>
            </a:r>
          </a:p>
          <a:p>
            <a:r>
              <a:rPr lang="en-US" dirty="0"/>
              <a:t>Recombinant DNA Technology </a:t>
            </a:r>
          </a:p>
          <a:p>
            <a:r>
              <a:rPr lang="en-US" dirty="0"/>
              <a:t>Monoclonal Antibodies </a:t>
            </a:r>
          </a:p>
          <a:p>
            <a:r>
              <a:rPr lang="en-US" dirty="0"/>
              <a:t>Biopharmaceutical Manufacturing </a:t>
            </a:r>
          </a:p>
          <a:p>
            <a:r>
              <a:rPr lang="en-US" dirty="0"/>
              <a:t>Textbooks Referenced: </a:t>
            </a:r>
          </a:p>
          <a:p>
            <a:r>
              <a:rPr lang="en-US" dirty="0"/>
              <a:t>Principles of Gene Manipulation and Genomics – Primrose &amp; Twyman </a:t>
            </a:r>
          </a:p>
          <a:p>
            <a:r>
              <a:rPr lang="en-US" dirty="0"/>
              <a:t>Biotechnology – U. Satyanarayana </a:t>
            </a:r>
          </a:p>
          <a:p>
            <a:r>
              <a:rPr lang="en-US" dirty="0"/>
              <a:t>Molecular Biotechnology – Bernard Glick &amp; Jack Pasternak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344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895</Words>
  <Application>Microsoft Office PowerPoint</Application>
  <PresentationFormat>Widescreen</PresentationFormat>
  <Paragraphs>201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PROJECT 2  Biocon: A Global Biotechnology Innovator Biotechnology Innovations, Products, Applications, Challenges and Market Impact  Presented By: CHARU BANSAL  Company: Biocon Founded by Kiran Mazumdar-Shaw in 1978 </vt:lpstr>
      <vt:lpstr>INTRODUCTION TO BIOCON </vt:lpstr>
      <vt:lpstr>Major Innovation: Biosimilars and Recombinant Biopharmaceuticals</vt:lpstr>
      <vt:lpstr>Biotechnology Behind Biocon Products Biotechnology Processes Used by Biocon </vt:lpstr>
      <vt:lpstr>Major Products of Biocon</vt:lpstr>
      <vt:lpstr>  Applications of Biocon Biotechnology </vt:lpstr>
      <vt:lpstr>Biocon’s R&amp;D Strength</vt:lpstr>
      <vt:lpstr>Major Challenges</vt:lpstr>
      <vt:lpstr>Global Market Impact</vt:lpstr>
      <vt:lpstr>Recent Advancements</vt:lpstr>
      <vt:lpstr>Future Scope</vt:lpstr>
      <vt:lpstr>CONCLUSION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 gupta</dc:creator>
  <cp:lastModifiedBy>charu bansal</cp:lastModifiedBy>
  <cp:revision>2</cp:revision>
  <dcterms:created xsi:type="dcterms:W3CDTF">2026-05-16T15:44:40Z</dcterms:created>
  <dcterms:modified xsi:type="dcterms:W3CDTF">2026-05-24T10:12:32Z</dcterms:modified>
</cp:coreProperties>
</file>